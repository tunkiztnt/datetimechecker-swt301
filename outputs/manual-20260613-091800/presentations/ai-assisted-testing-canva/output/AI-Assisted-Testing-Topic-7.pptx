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987fa208bb4995" /><Relationship Type="http://schemas.openxmlformats.org/officeDocument/2006/relationships/extended-properties" Target="/docProps/app.xml" Id="R60fbfc8f0ba9414f" /><Relationship Type="http://schemas.openxmlformats.org/officeDocument/2006/relationships/officeDocument" Target="/ppt/presentation.xml" Id="R1d09bd6fc1744b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8e5659d5d94a63"/>
  </p:sldMasterIdLst>
  <p:notesMasterIdLst>
    <p:notesMasterId xmlns:r="http://schemas.openxmlformats.org/officeDocument/2006/relationships" r:id="R03d26943b305488f"/>
  </p:notesMasterIdLst>
  <p:sldIdLst>
    <p:sldId xmlns:r="http://schemas.openxmlformats.org/officeDocument/2006/relationships" id="256" r:id="Recd5c7f0026e4212"/>
    <p:sldId xmlns:r="http://schemas.openxmlformats.org/officeDocument/2006/relationships" id="257" r:id="R0c0f25270ffa4826"/>
    <p:sldId xmlns:r="http://schemas.openxmlformats.org/officeDocument/2006/relationships" id="258" r:id="R9e3e4be691fb41ce"/>
    <p:sldId xmlns:r="http://schemas.openxmlformats.org/officeDocument/2006/relationships" id="259" r:id="R2813eb747528467c"/>
    <p:sldId xmlns:r="http://schemas.openxmlformats.org/officeDocument/2006/relationships" id="260" r:id="Rce8f772a4d874eec"/>
    <p:sldId xmlns:r="http://schemas.openxmlformats.org/officeDocument/2006/relationships" id="261" r:id="R6a395056a58547d1"/>
    <p:sldId xmlns:r="http://schemas.openxmlformats.org/officeDocument/2006/relationships" id="262" r:id="R3f12f823961b450f"/>
    <p:sldId xmlns:r="http://schemas.openxmlformats.org/officeDocument/2006/relationships" id="263" r:id="R08fe71629f8944d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1c6c09a2644ae7" /><Relationship Type="http://schemas.openxmlformats.org/officeDocument/2006/relationships/slideMaster" Target="/ppt/slideMasters/slideMaster1.xml" Id="Re28e5659d5d94a63" /><Relationship Type="http://schemas.openxmlformats.org/officeDocument/2006/relationships/notesMaster" Target="/ppt/notesMasters/notesMaster1.xml" Id="R03d26943b305488f" /><Relationship Type="http://schemas.openxmlformats.org/officeDocument/2006/relationships/presProps" Target="/ppt/presProps.xml" Id="R11afb41dc36f408b" /><Relationship Type="http://schemas.openxmlformats.org/officeDocument/2006/relationships/viewProps" Target="/ppt/viewProps.xml" Id="Rb49609a1d15544bc" /><Relationship Type="http://schemas.openxmlformats.org/officeDocument/2006/relationships/tableStyles" Target="/ppt/tableStyles.xml" Id="Reaf0d347dd2b4dbd" /><Relationship Type="http://schemas.openxmlformats.org/officeDocument/2006/relationships/slide" Target="/ppt/slides/slide1.xml" Id="Recd5c7f0026e4212" /><Relationship Type="http://schemas.openxmlformats.org/officeDocument/2006/relationships/slide" Target="/ppt/slides/slide2.xml" Id="R0c0f25270ffa4826" /><Relationship Type="http://schemas.openxmlformats.org/officeDocument/2006/relationships/slide" Target="/ppt/slides/slide3.xml" Id="R9e3e4be691fb41ce" /><Relationship Type="http://schemas.openxmlformats.org/officeDocument/2006/relationships/slide" Target="/ppt/slides/slide4.xml" Id="R2813eb747528467c" /><Relationship Type="http://schemas.openxmlformats.org/officeDocument/2006/relationships/slide" Target="/ppt/slides/slide5.xml" Id="Rce8f772a4d874eec" /><Relationship Type="http://schemas.openxmlformats.org/officeDocument/2006/relationships/slide" Target="/ppt/slides/slide6.xml" Id="R6a395056a58547d1" /><Relationship Type="http://schemas.openxmlformats.org/officeDocument/2006/relationships/slide" Target="/ppt/slides/slide7.xml" Id="R3f12f823961b450f" /><Relationship Type="http://schemas.openxmlformats.org/officeDocument/2006/relationships/slide" Target="/ppt/slides/slide8.xml" Id="R08fe71629f8944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ddbb14273444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f56a2918014e9b" /><Relationship Type="http://schemas.openxmlformats.org/officeDocument/2006/relationships/notesMaster" Target="/ppt/notesMasters/notesMaster1.xml" Id="R6075956aa1724b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02823d92404ccc" /><Relationship Type="http://schemas.openxmlformats.org/officeDocument/2006/relationships/notesMaster" Target="/ppt/notesMasters/notesMaster1.xml" Id="R57a478a6bdd04d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590d387b9446b3" /><Relationship Type="http://schemas.openxmlformats.org/officeDocument/2006/relationships/notesMaster" Target="/ppt/notesMasters/notesMaster1.xml" Id="Rbd274070bbcd4d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50ea335ffd4618" /><Relationship Type="http://schemas.openxmlformats.org/officeDocument/2006/relationships/notesMaster" Target="/ppt/notesMasters/notesMaster1.xml" Id="Rdce4f02f9dbe41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f7f73ce1cd4581" /><Relationship Type="http://schemas.openxmlformats.org/officeDocument/2006/relationships/notesMaster" Target="/ppt/notesMasters/notesMaster1.xml" Id="R2d760de647f245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018dc25bc647b7" /><Relationship Type="http://schemas.openxmlformats.org/officeDocument/2006/relationships/notesMaster" Target="/ppt/notesMasters/notesMaster1.xml" Id="Re9dab064364641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7e1b03f1574e88" /><Relationship Type="http://schemas.openxmlformats.org/officeDocument/2006/relationships/notesMaster" Target="/ppt/notesMasters/notesMaster1.xml" Id="R17bd11df27a848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71ab151bd14497" /><Relationship Type="http://schemas.openxmlformats.org/officeDocument/2006/relationships/notesMaster" Target="/ppt/notesMasters/notesMaster1.xml" Id="R7e32dc6a69bc41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682091d1644e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d7eb94e5444c7a" /><Relationship Type="http://schemas.openxmlformats.org/officeDocument/2006/relationships/slideLayout" Target="/ppt/slideLayouts/slideLayout1.xml" Id="Rad6d5d85a52948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6d5d85a52948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6f39ac16d4fb1" /><Relationship Type="http://schemas.openxmlformats.org/officeDocument/2006/relationships/notesSlide" Target="/ppt/notesSlides/notesSlide1.xml" Id="R1f3e892714a549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bb313b1cb4ab1" /><Relationship Type="http://schemas.openxmlformats.org/officeDocument/2006/relationships/notesSlide" Target="/ppt/notesSlides/notesSlide2.xml" Id="R8d6ee7f42f4d45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2171dc64c415f" /><Relationship Type="http://schemas.openxmlformats.org/officeDocument/2006/relationships/notesSlide" Target="/ppt/notesSlides/notesSlide3.xml" Id="R73bbf22d72a34b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072a2f2df43d9" /><Relationship Type="http://schemas.openxmlformats.org/officeDocument/2006/relationships/notesSlide" Target="/ppt/notesSlides/notesSlide4.xml" Id="Rb00e59d46e1748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922b430c44701" /><Relationship Type="http://schemas.openxmlformats.org/officeDocument/2006/relationships/notesSlide" Target="/ppt/notesSlides/notesSlide5.xml" Id="R1bf55c8038b947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f408b55164b9f" /><Relationship Type="http://schemas.openxmlformats.org/officeDocument/2006/relationships/notesSlide" Target="/ppt/notesSlides/notesSlide6.xml" Id="R1aa489313a2640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7828464434827" /><Relationship Type="http://schemas.openxmlformats.org/officeDocument/2006/relationships/notesSlide" Target="/ppt/notesSlides/notesSlide7.xml" Id="R22fdab7ba7b64c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642661f854298" /><Relationship Type="http://schemas.openxmlformats.org/officeDocument/2006/relationships/notesSlide" Target="/ppt/notesSlides/notesSlide8.xml" Id="R057a5174d5e84a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267898-72CE-42C9-9A11-B058D5D8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BFFE8-0EBE-40CA-9763-FA8B9286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8A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8A3D"/>
                </a:solidFill>
                <a:latin typeface="Aptos"/>
                <a:ea typeface="Aptos"/>
                <a:cs typeface="Aptos"/>
              </a:rPr>
              <a:t>TOPIC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8ED83-87AC-48EE-BB01-17159A38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AF0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EAF0FF"/>
                </a:solidFill>
                <a:latin typeface="Aptos Display"/>
                <a:ea typeface="Aptos Display"/>
                <a:cs typeface="Aptos Display"/>
              </a:rPr>
              <a:t>AI-Assisted Testing accelerates test design, defect analysis, and recovery without removing the tester from the loop.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248AD-1B0D-4CB5-8755-3E4F02C0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3A1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3A1BF"/>
                </a:solidFill>
                <a:latin typeface="Aptos"/>
                <a:ea typeface="Aptos"/>
                <a:cs typeface="Aptos"/>
              </a:rPr>
              <a:t>DateTimeChecker project presentation | focus: Gemini-assisted testcase generation, self-healing concepts, and demo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41E45-9A64-491C-AC16-BA8D904F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DA3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DA3FF"/>
                </a:solidFill>
                <a:latin typeface="Aptos"/>
                <a:ea typeface="Aptos"/>
                <a:cs typeface="Aptos"/>
              </a:rPr>
              <a:t>What we will 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180F7-8945-4E2D-8F34-EA35E9A0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4000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1. AI can generate better testing ideas faster.</a:t>
            </a:r>
          </a:p>
          <a:p xmlns:a="http://schemas.openxmlformats.org/drawingml/2006/main">
            <a:pPr algn="l">
              <a:defRPr sz="1725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2. AI can explain risk patterns clearly.</a:t>
            </a:r>
          </a:p>
          <a:p xmlns:a="http://schemas.openxmlformats.org/drawingml/2006/main">
            <a:pPr algn="l">
              <a:defRPr sz="1725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3. AI can support self-healing when automation breaks.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EA215-3882-43AD-A046-6B1DFBE6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5334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C33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05DC6-6C49-4987-B37E-56FB0B6A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24150"/>
            <a:ext cx="1219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33F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272F8F-4BF8-44E6-A378-2EDE9517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24150"/>
            <a:ext cx="1219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D4D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9B3F23-F601-40C2-A5FD-21239F8B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24150"/>
            <a:ext cx="1219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2C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E6BF7-64E0-4E4B-83CF-9120AF90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527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Tester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B2CC1-BB51-4672-B1D7-2C6AE10E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527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Gemini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5467E9-D69D-449D-A1EE-4972BFBA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527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Automation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C3542C-F128-4085-B0B6-7996DE89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33850"/>
            <a:ext cx="3390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F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2F6AB7-CFE6-4B88-9518-DF08F597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862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8A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8A3D"/>
                </a:solidFill>
                <a:latin typeface="Aptos"/>
                <a:ea typeface="Aptos"/>
                <a:cs typeface="Aptos"/>
              </a:rPr>
              <a:t>Outputs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9DE0E8-D371-425E-B6BB-532FDDDF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910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Test ideas  |  Prompt answers  |  Healed locator suggestions</a:t>
            </a:r>
          </a:p>
        </p:txBody>
      </p:sp>
      <p:cxnSp>
        <p:nvCxnSpPr>
          <p:cNvPr id="1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448550" y="30861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A3FF"/>
            </a:solidFill>
          </a:ln>
        </p:spPr>
      </p:cxnSp>
      <p:cxnSp>
        <p:nvCxnSpPr>
          <p:cNvPr id="18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086850" y="30861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A3FF"/>
            </a:solidFill>
          </a:ln>
        </p:spPr>
      </p:cxnSp>
      <p:cxnSp>
        <p:nvCxnSpPr>
          <p:cNvPr id="19" name=""/>
          <p:cNvCxnSpPr>
            <a:stCxn xmlns:a="http://schemas.openxmlformats.org/drawingml/2006/main" id="9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8477250" y="3448050"/>
            <a:ext cx="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D7AC"/>
            </a:solidFill>
          </a:ln>
        </p:spPr>
      </p:cxnSp>
      <p:cxnSp>
        <p:nvCxnSpPr>
          <p:cNvPr id="20" name=""/>
          <p:cNvCxnSpPr>
            <a:stCxn xmlns:a="http://schemas.openxmlformats.org/drawingml/2006/main" id="14" idx="1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6781800" y="3448050"/>
            <a:ext cx="57150" cy="112395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FF8A3D"/>
            </a:solidFill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ECA2FD-5C6C-49B7-9B39-954C76F6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531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3A1B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3A1BF"/>
                </a:solidFill>
                <a:latin typeface="Aptos"/>
                <a:ea typeface="Aptos"/>
                <a:cs typeface="Aptos"/>
              </a:rPr>
              <a:t>Human judgment stays at the center: AI suggests, the team validates.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D563C5-53BF-4736-8005-9FFE1E0F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3A1B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1BF"/>
                </a:solidFill>
                <a:latin typeface="Aptos"/>
                <a:ea typeface="Aptos"/>
                <a:cs typeface="Aptos"/>
              </a:rPr>
              <a:t>DateTimeChecker | Topic 7 | AI-Assisted Testing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A07A9E-86D5-4A38-985A-02BE7488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000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C33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EBD122-24BE-4744-866F-BCE0D02A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381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827307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0961B4-196E-40A7-907B-D439228F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35A4DA-80CC-4BFF-86B0-414D948A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8A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8A3D"/>
                </a:solidFill>
                <a:latin typeface="Aptos"/>
                <a:ea typeface="Aptos"/>
                <a:cs typeface="Aptos"/>
              </a:rPr>
              <a:t>WHY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56FC0-CC2D-40A9-BDE2-AC231777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AF0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EAF0FF"/>
                </a:solidFill>
                <a:latin typeface="Aptos Display"/>
                <a:ea typeface="Aptos Display"/>
                <a:cs typeface="Aptos Display"/>
              </a:rPr>
              <a:t>Manual testing becomes slow when testcase design, defect analysis, and locator maintenance all depend on human memory.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91C23C-E72E-4EBC-AF1D-46B0BF4C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3A1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3A1BF"/>
                </a:solidFill>
                <a:latin typeface="Aptos"/>
                <a:ea typeface="Aptos"/>
                <a:cs typeface="Aptos"/>
              </a:rPr>
              <a:t>AI-assisted testing is valuable because it reduces repetitive thinking work before and after automation runs.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D5210-B782-473A-ACD6-248AAD24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3143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C33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C881A-4AD3-474A-9FAA-B3167B69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solidFill>
              <a:srgbClr val="4DA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E6332-73C6-49DB-A576-39E20485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Before execution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901805-FB83-4CF2-B80F-C42C385B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solidFill>
              <a:srgbClr val="4DA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435CC-A251-42DA-BCEE-4FC115FA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Think of edge cases manually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B1B4C-6028-4BE1-BB8E-1E7D7EB1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solidFill>
              <a:srgbClr val="4DA3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16702F-BD4C-4E65-ADCE-AFF7A85A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Translate requirements into test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6DD1A4-8B6D-47DC-934C-B3704BD4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solidFill>
              <a:srgbClr val="4DA3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88F4BA-6119-4CC1-B8F7-107A979D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Miss rare combinations under time pressure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DE8D4A-88DA-45D1-AA72-EED5DCC8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3143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C33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D0067A-2995-4821-BC58-56FF1B8D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55270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F52A1B-7051-4A86-AC5D-AA0698E1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813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When tests fail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EC5C3F-7D79-4CB0-B87C-ED5E3630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371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702AFA-8A42-4B5A-90B0-FB2613C1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956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Investigate whether the app broke or the locator changed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27021A-E009-461B-95F9-07DBABF4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771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46DF3F-E65F-4F18-959F-D74C629E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69570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Read logs slowly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7BCF85-B675-484C-83CB-1AF19C17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7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86366A-07F7-4921-A4DA-CAB974E2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957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Retry fixes one by one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AE1142-F060-4C16-B51E-2062CF53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143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C33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442D7E-9532-49FE-914D-636D033A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52700"/>
            <a:ext cx="419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D7AC"/>
          </a:solidFill>
          <a:ln xmlns:a="http://schemas.openxmlformats.org/drawingml/2006/main" w="0">
            <a:solidFill>
              <a:srgbClr val="47D7A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773230-4672-4E12-8579-A59768A6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813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For student teams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7F38AA-669F-4DAB-8303-BAF2A9DF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71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D7AC"/>
          </a:solidFill>
          <a:ln xmlns:a="http://schemas.openxmlformats.org/drawingml/2006/main" w="0">
            <a:solidFill>
              <a:srgbClr val="47D7A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3EB841-55F1-4A25-B75D-A13FC792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956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Need fast demo preparation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0948BD-9DEA-4D62-9B28-36B5B3A1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71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D7AC"/>
          </a:solidFill>
          <a:ln xmlns:a="http://schemas.openxmlformats.org/drawingml/2006/main" w="0">
            <a:solidFill>
              <a:srgbClr val="47D7A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7AD582-2394-4E86-B0C7-62FE7974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9570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Need clear explanation in Vietnamese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7F0662-E27E-4074-BF75-98AB32E9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7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D7AC"/>
          </a:solidFill>
          <a:ln xmlns:a="http://schemas.openxmlformats.org/drawingml/2006/main" w="0">
            <a:solidFill>
              <a:srgbClr val="47D7A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2B570B-7D74-49FB-B1C5-18E24496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95750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Need fallback when API/network is unstable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858D17-246C-4976-8662-100E5716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8FC"/>
                </a:solidFill>
                <a:latin typeface="Aptos"/>
                <a:ea typeface="Aptos"/>
                <a:cs typeface="Aptos"/>
              </a:rPr>
              <a:t>Key point: AI is not replacing execution tools here. It is reducing design and recovery friction.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809D4D-BDD0-4F37-9D8B-9C4C27C6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3A1B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1BF"/>
                </a:solidFill>
                <a:latin typeface="Aptos"/>
                <a:ea typeface="Aptos"/>
                <a:cs typeface="Aptos"/>
              </a:rPr>
              <a:t>DateTimeChecker | Topic 7 | AI-Assisted Testing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9535BD-E7BC-4FC2-AFCB-64A3A289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000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C33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C43027-E829-44CD-8A8C-3A3EB1AB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381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950092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12F558-2ACD-4682-A10B-3E14E4AE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23944-16DF-4A0C-B0FC-C33BBFFE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8A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8A3D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2FD7D-8B64-4F50-9730-0655EB47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AF0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EAF0FF"/>
                </a:solidFill>
                <a:latin typeface="Aptos Display"/>
                <a:ea typeface="Aptos Display"/>
                <a:cs typeface="Aptos Display"/>
              </a:rPr>
              <a:t>In our project, AI works as a co-pilot between tester intent and automation output.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A7394-0300-4582-9F74-C2538DC2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3A1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3A1BF"/>
                </a:solidFill>
                <a:latin typeface="Aptos"/>
                <a:ea typeface="Aptos"/>
                <a:cs typeface="Aptos"/>
              </a:rPr>
              <a:t>The operating model is human-in-the-loop: the tester asks, AI suggests, automation verifies, and the tester decides.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E35C5-7AF5-40DC-9684-C850370F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2667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A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72766-7B48-45BC-B9B2-B9DD87EF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86000"/>
            <a:ext cx="26670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A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2F1A8-0CEA-4FD5-B05B-D2827469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52700"/>
            <a:ext cx="2667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27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D9DE0-82E5-4639-AD16-FA86BC9D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Human role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0D67C-BC2B-4D40-A3ED-17E06624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DB825-141B-4CCA-966B-1052E9D5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Choose prompt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2556F-73D9-47B6-85C6-FEEEC571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EAE81-A4BC-4DC3-89F4-D379CD68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76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Review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89E261-590B-494A-A2AF-869FE714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3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6F0960-B2EA-4674-A975-EA59FC92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576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Accept or reject healed suggestion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83AD35-E5D0-4F48-8CD1-4F11A8B5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336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AI role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A9FE28-AAF8-43BB-8D43-A1167DE4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86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solidFill>
              <a:srgbClr val="4DA3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4628BA-F215-4838-B06E-5AE7CE79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099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Generate testcase ideas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02FB56-D58A-406A-9DC4-C3D2CC8A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solidFill>
              <a:srgbClr val="4DA3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E64587-75DA-46CA-A783-A7ADF1F1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099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Explain testing rationale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DE176F-E236-4EFC-9214-22A3A0BC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86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solidFill>
              <a:srgbClr val="4DA3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9EFC84-DE99-4F11-B9E2-FB674F57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100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Suggest resilient locator alternatives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8BD27F-F528-4497-BF5E-57066343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86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solidFill>
              <a:srgbClr val="4DA3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E0A181-9506-4D74-9BB9-4CBB7723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100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Transform natural language into test code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1BCC61-E1A2-448E-A28F-DA06D738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813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Automation role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ABA4CE-130E-4000-987D-8083F980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33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D7AC"/>
          </a:solidFill>
          <a:ln xmlns:a="http://schemas.openxmlformats.org/drawingml/2006/main" w="0">
            <a:solidFill>
              <a:srgbClr val="47D7A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3041E8-E55D-4B89-BC2B-5861740E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575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Run script/demo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B23C53-98F0-4859-8AC5-8E257EF8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33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D7AC"/>
          </a:solidFill>
          <a:ln xmlns:a="http://schemas.openxmlformats.org/drawingml/2006/main" w="0">
            <a:solidFill>
              <a:srgbClr val="47D7A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289115-F204-44E7-BCED-C756C769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576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Show pass/fail 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0BFE5A-DDF9-493F-A347-80292C6F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3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D7AC"/>
          </a:solidFill>
          <a:ln xmlns:a="http://schemas.openxmlformats.org/drawingml/2006/main" w="0">
            <a:solidFill>
              <a:srgbClr val="47D7A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DF4AEA-0FA0-4916-AED8-AAE8AE1D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576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Re-run after healing</a:t>
            </a:r>
          </a:p>
        </p:txBody>
      </p: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390900" y="3829050"/>
            <a:ext cx="1371600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DA3FF"/>
            </a:solidFill>
          </a:ln>
        </p:spPr>
      </p:cxn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429500" y="3829050"/>
            <a:ext cx="1371600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DA3FF"/>
            </a:solidFill>
          </a:ln>
        </p:spPr>
      </p:cxnSp>
      <p:cxnSp>
        <p:nvCxnSpPr>
          <p:cNvPr id="33" name=""/>
          <p:cNvCxnSpPr>
            <a:stCxn xmlns:a="http://schemas.openxmlformats.org/drawingml/2006/main" id="7" idx="2"/>
            <a:endCxn xmlns:a="http://schemas.openxmlformats.org/drawingml/2006/main" id="5" idx="2"/>
          </p:cNvCxnSpPr>
          <p:nvPr/>
        </p:nvCxnSpPr>
        <p:spPr>
          <a:xfrm xmlns:a="http://schemas.openxmlformats.org/drawingml/2006/main" flipH="1">
            <a:off x="2057400" y="5124450"/>
            <a:ext cx="8077200" cy="3619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FF8A3D"/>
            </a:solidFill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B8ED41-C799-468F-8922-50EA8638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3A1B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3A1BF"/>
                </a:solidFill>
                <a:latin typeface="Aptos"/>
                <a:ea typeface="Aptos"/>
                <a:cs typeface="Aptos"/>
              </a:rPr>
              <a:t>Why this matters: the system combines speed from AI with accountability from the tester.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2D41BE-9CFB-4C51-A1AB-E11C20C7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3A1B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1BF"/>
                </a:solidFill>
                <a:latin typeface="Aptos"/>
                <a:ea typeface="Aptos"/>
                <a:cs typeface="Aptos"/>
              </a:rPr>
              <a:t>DateTimeChecker | Topic 7 | AI-Assisted Testing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ED0CC0-6673-4091-A817-D733F6DD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000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C33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3F4AFD-4B88-4E27-A7CD-0133FDA9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381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230007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AB3297-8CF6-443F-A14F-728FFB59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02812-8700-4F4C-8841-A300075B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8A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8A3D"/>
                </a:solidFill>
                <a:latin typeface="Aptos"/>
                <a:ea typeface="Aptos"/>
                <a:cs typeface="Aptos"/>
              </a:rPr>
              <a:t>PROJECT FIT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82913-0332-462E-BAFC-F0A0C15B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AF0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EAF0FF"/>
                </a:solidFill>
                <a:latin typeface="Aptos Display"/>
                <a:ea typeface="Aptos Display"/>
                <a:cs typeface="Aptos Display"/>
              </a:rPr>
              <a:t>Topic 7 is concrete because our DateTimeChecker demo maps AI to three visible capabilities in the repository.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10F68-2A69-4A83-985C-61CD01EE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3A1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3A1BF"/>
                </a:solidFill>
                <a:latin typeface="Aptos"/>
                <a:ea typeface="Aptos"/>
                <a:cs typeface="Aptos"/>
              </a:rPr>
              <a:t>The proof is not a theory slide: each capability is tied to a real script, real command, or real demo step.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F87E9-5383-40C6-A47A-6B243C78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5750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948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118BE-7FA4-43A5-A4E2-ADB111C5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051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DateTimeChecker</a:t>
            </a:r>
          </a:p>
          <a:p xmlns:a="http://schemas.openxmlformats.org/drawingml/2006/main">
            <a:pPr algn="ctr">
              <a:defRPr sz="19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Topic 7 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C8E9F-3774-4675-9C4F-6681BEE1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2857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A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0FBC0-7D7C-4C41-BB14-38DEC883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DA3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DA3FF"/>
                </a:solidFill>
                <a:latin typeface="Aptos"/>
                <a:ea typeface="Aptos"/>
                <a:cs typeface="Aptos"/>
              </a:rPr>
              <a:t>Gemini chat assistant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4EF62-3701-4DF1-A409-51C65A89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266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Script: ai-assistant-chat.bat</a:t>
            </a:r>
          </a:p>
          <a:p xmlns:a="http://schemas.openxmlformats.org/drawingml/2006/main">
            <a:pPr algn="l">
              <a:defRPr sz="13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Use case: ask for testcase ideas in Vietnamese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D591CD-495D-4D82-B4FC-8E60A10B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05050"/>
            <a:ext cx="2857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2C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E71F4E-C89C-41C0-AADC-275A2154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336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7D7A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7D7AC"/>
                </a:solidFill>
                <a:latin typeface="Aptos"/>
                <a:ea typeface="Aptos"/>
                <a:cs typeface="Aptos"/>
              </a:rPr>
              <a:t>Self-healing 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A0097-01EC-463B-9F62-39EDD352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14650"/>
            <a:ext cx="228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Script: ai-self-healing-demo.ps1</a:t>
            </a:r>
          </a:p>
          <a:p xmlns:a="http://schemas.openxmlformats.org/drawingml/2006/main">
            <a:pPr algn="l">
              <a:defRPr sz="13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Use case: recover from changed locator suggestions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A70D3D-14C3-41AC-B10B-C5EB96AA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62500"/>
            <a:ext cx="619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E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930314-F2C4-4D5B-87B4-B1322C4C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911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8A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8A3D"/>
                </a:solidFill>
                <a:latin typeface="Aptos"/>
                <a:ea typeface="Aptos"/>
                <a:cs typeface="Aptos"/>
              </a:rPr>
              <a:t>Offline reliability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C7CA0C-5633-4D7B-BED2-28B07472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72100"/>
            <a:ext cx="542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Fallback mode matters for classroom demos: if network, model, or quota fails, the team can still present the testing concept and workflow clearly.</a:t>
            </a:r>
          </a:p>
        </p:txBody>
      </p:sp>
      <p:cxnSp>
        <p:nvCxnSpPr>
          <p:cNvPr id="16" name=""/>
          <p:cNvCxnSpPr>
            <a:stCxn xmlns:a="http://schemas.openxmlformats.org/drawingml/2006/main" id="7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524250" y="3257550"/>
            <a:ext cx="1352550" cy="123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DA3FF"/>
            </a:solidFill>
          </a:ln>
        </p:spPr>
      </p:cxnSp>
      <p:cxnSp>
        <p:nvCxnSpPr>
          <p:cNvPr id="17" name=""/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258050" y="3067050"/>
            <a:ext cx="1409700" cy="3143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7D7AC"/>
            </a:solidFill>
          </a:ln>
        </p:spPr>
      </p:cxnSp>
      <p:cxnSp>
        <p:nvCxnSpPr>
          <p:cNvPr id="18" name=""/>
          <p:cNvCxnSpPr>
            <a:stCxn xmlns:a="http://schemas.openxmlformats.org/drawingml/2006/main" id="5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067425" y="3905250"/>
            <a:ext cx="57150" cy="857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FF8A3D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D9108A-4263-40E3-8D2A-E1CD0B2C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3A1B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1BF"/>
                </a:solidFill>
                <a:latin typeface="Aptos"/>
                <a:ea typeface="Aptos"/>
                <a:cs typeface="Aptos"/>
              </a:rPr>
              <a:t>DateTimeChecker | Topic 7 | AI-Assisted Testing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38B671-B530-4DE9-9B3C-BEBCD944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000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C33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0D3C98-B0A3-4A60-A0DD-C657C459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381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980099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A1A6EE-1736-4DEB-B2CB-F6A7FA17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BBB1D-CB61-4B6E-902B-26F8AE60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8A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8A3D"/>
                </a:solidFill>
                <a:latin typeface="Aptos"/>
                <a:ea typeface="Aptos"/>
                <a:cs typeface="Aptos"/>
              </a:rPr>
              <a:t>DEMO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255E0-565E-4ED0-9113-225C9E98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AF0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EAF0FF"/>
                </a:solidFill>
                <a:latin typeface="Aptos Display"/>
                <a:ea typeface="Aptos Display"/>
                <a:cs typeface="Aptos Display"/>
              </a:rPr>
              <a:t>The live demo proves value through a six-step loop from natural-language prompt to healed regression.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BA23D-27AA-447C-9B17-0B4EA6F6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3A1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3A1BF"/>
                </a:solidFill>
                <a:latin typeface="Aptos"/>
                <a:ea typeface="Aptos"/>
                <a:cs typeface="Aptos"/>
              </a:rPr>
              <a:t>This is the easiest slide to explain during presentation because each step matches a visible action or script output.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C7BF3-3031-4D9F-8FD6-E80A7584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17335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C33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78CBC-FF56-46A8-A1D9-E4B84D2F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8A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8A3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4E9C3-F7B6-49F3-89B3-427F1CB0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Enter prompt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94827-9DB9-431D-BCD9-C6C8D11F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1409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Ask Gemini for leap-year, boundary, and invalid-format testcases.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653C2-4665-4923-B7A9-CC05CE74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00450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DA3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4DA3F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BD62E1-00F8-47F4-AEBB-710A7BD4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762250"/>
            <a:ext cx="17335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E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775D6-44EF-4CDD-940B-1D6CD6D1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1465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8A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8A3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C27B10-CF55-4D1D-9937-BB297ED5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5755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AI response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9DECC-C56C-4394-8942-441B9F93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48100"/>
            <a:ext cx="1409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Gemini returns test ideas in Vietnamese.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0BBE8-F8C1-4FB4-B729-D419A8AD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600450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DA3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4DA3F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2A167D-97D6-4004-AC9D-9AE1102D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62250"/>
            <a:ext cx="17335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C33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4A4850-C089-4DE4-9097-7486DA54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1465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8A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8A3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457F3E-43F8-4D9F-911C-8C0B9FFB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5755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Run command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C24632-8CCC-4E59-A101-5F57A457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48100"/>
            <a:ext cx="1409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Type /demo-self-heal in the chat interface.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9ABCFD-FA42-470F-B9AB-C65F6641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00450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DA3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4DA3F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EB2A20-70C7-47B7-BB72-034B041A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62250"/>
            <a:ext cx="17335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E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BBED46-D45B-45E1-9EE5-A0F46E51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1465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8A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8A3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2370C0-102A-477B-82C0-C197EEE8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5755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Detector fails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D2ACF2-240A-4CFE-B2D9-FC6ED176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48100"/>
            <a:ext cx="1409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The script simulates locator drift in UI automation.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A39D19-CC40-4D09-BEFB-A22EFFB9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00450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DA3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4DA3F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467E59-D10C-4011-A899-E478F99E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62250"/>
            <a:ext cx="17335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C33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D4A7A8-210E-4B29-9B29-A1661F24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1465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8A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8A3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599CD1-410D-46D3-BFBA-64A34E13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5755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AI heal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B45466-9548-479E-AFF0-F3C35B80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48100"/>
            <a:ext cx="1409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A new locator is suggested from semantic meaning or label.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659CFA-DC18-49BA-90FD-2F017612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00450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DA3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4DA3F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44CEAD-B968-4822-B70F-2EDB1A7B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62250"/>
            <a:ext cx="17335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E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0B5948-5CFC-4C98-93DC-BD5F592E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1465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8A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8A3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B2F53B-A95B-401F-BCA6-281BAB1E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25755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Regression re-run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2B7170-8FFB-494F-83CB-69CD6499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848100"/>
            <a:ext cx="1409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The flow passes again with the healed locator.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0745A4-17D6-4A5B-9EA4-6E269F0B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3A1B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3A1BF"/>
                </a:solidFill>
                <a:latin typeface="Aptos"/>
                <a:ea typeface="Aptos"/>
                <a:cs typeface="Aptos"/>
              </a:rPr>
              <a:t>Presentation tip: explain this as a loop of Ask → Detect → Heal → Verify.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EBFF55-FF09-4866-8CB2-1C211755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3A1B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1BF"/>
                </a:solidFill>
                <a:latin typeface="Aptos"/>
                <a:ea typeface="Aptos"/>
                <a:cs typeface="Aptos"/>
              </a:rPr>
              <a:t>DateTimeChecker | Topic 7 | AI-Assisted Testing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0CA1EA-A89C-4DA3-8723-F9B10D17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000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C33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722E6D-F3F3-4824-81BE-9DBE649B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381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89998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B41C2B-0720-41DE-9E2E-EC5E5579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986A3E-F08E-43F5-9B1C-5A2F074B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8A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8A3D"/>
                </a:solidFill>
                <a:latin typeface="Aptos"/>
                <a:ea typeface="Aptos"/>
                <a:cs typeface="Aptos"/>
              </a:rPr>
              <a:t>PROOF SLIDE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891A9-4ADE-42E6-983D-1EEDD3B3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AF0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EAF0FF"/>
                </a:solidFill>
                <a:latin typeface="Aptos Display"/>
                <a:ea typeface="Aptos Display"/>
                <a:cs typeface="Aptos Display"/>
              </a:rPr>
              <a:t>One natural-language prompt can become structured testing ideas and resilient locator suggestions.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CDA72-19B5-4449-9EC3-F8601158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3A1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3A1BF"/>
                </a:solidFill>
                <a:latin typeface="Aptos"/>
                <a:ea typeface="Aptos"/>
                <a:cs typeface="Aptos"/>
              </a:rPr>
              <a:t>This is the bridge between AI conversation and usable testing output.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19987-2764-4B07-8D96-7E484C1E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4953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30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CA90B-6CDF-4E2C-A8B5-81508309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DA3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DA3FF"/>
                </a:solidFill>
                <a:latin typeface="Aptos"/>
                <a:ea typeface="Aptos"/>
                <a:cs typeface="Aptos"/>
              </a:rPr>
              <a:t>Sample prompt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C3B9A-7632-4A27-A137-240FFF36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4305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F8FC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F7F8FC"/>
                </a:solidFill>
                <a:latin typeface="Aptos Mono"/>
                <a:ea typeface="Aptos Mono"/>
                <a:cs typeface="Aptos Mono"/>
              </a:rPr>
              <a:t>Hay tao testcase kiem thu DateTimeChecker cho ngay nhuan, bien thang, bien nam va du lieu sai dinh dang.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58F7A-D9A9-4710-8904-BE4E6829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8A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8A3D"/>
                </a:solidFill>
                <a:latin typeface="Aptos"/>
                <a:ea typeface="Aptos"/>
                <a:cs typeface="Aptos"/>
              </a:rPr>
              <a:t>Expected AI 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021DA7-F9C4-45C1-8904-94512577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41148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• 29/02/2024 -&gt; VALID</a:t>
            </a:r>
          </a:p>
          <a:p xmlns:a="http://schemas.openxmlformats.org/drawingml/2006/main">
            <a:pPr algn="l">
              <a:defRPr sz="16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• 29/02/2023 -&gt; INVALID</a:t>
            </a:r>
          </a:p>
          <a:p xmlns:a="http://schemas.openxmlformats.org/drawingml/2006/main">
            <a:pPr algn="l">
              <a:defRPr sz="16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• 31/04/2026 -&gt; INVALID</a:t>
            </a:r>
          </a:p>
          <a:p xmlns:a="http://schemas.openxmlformats.org/drawingml/2006/main">
            <a:pPr algn="l">
              <a:defRPr sz="16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• 01/01/1000 -&gt; VALID</a:t>
            </a:r>
          </a:p>
          <a:p xmlns:a="http://schemas.openxmlformats.org/drawingml/2006/main">
            <a:pPr algn="l">
              <a:defRPr sz="16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• abc / 5 / 2026 -&gt; ERROR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89DB6-50B8-4D1C-8924-C935D03F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43150"/>
            <a:ext cx="54864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E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B5BD58-82B4-4E47-AD27-1A738E93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71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7D7A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7D7AC"/>
                </a:solidFill>
                <a:latin typeface="Aptos"/>
                <a:ea typeface="Aptos"/>
                <a:cs typeface="Aptos"/>
              </a:rPr>
              <a:t>Self-healing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24BCEF-637B-4AAA-A4FC-1015F642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28950"/>
            <a:ext cx="4476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8FC"/>
                </a:solidFill>
                <a:latin typeface="Aptos"/>
                <a:ea typeface="Aptos"/>
                <a:cs typeface="Aptos"/>
              </a:rPr>
              <a:t>Old locator fails:</a:t>
            </a:r>
          </a:p>
          <a:p xmlns:a="http://schemas.openxmlformats.org/drawingml/2006/main">
            <a:pPr algn="l">
              <a:defRPr sz="1650" b="0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8FC"/>
                </a:solidFill>
                <a:latin typeface="Aptos"/>
                <a:ea typeface="Aptos"/>
                <a:cs typeface="Aptos"/>
              </a:rPr>
              <a:t>#input-day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8FC"/>
                </a:solidFill>
                <a:latin typeface="Aptos"/>
                <a:ea typeface="Aptos"/>
                <a:cs typeface="Aptos"/>
              </a:rPr>
              <a:t>AI suggests a stronger locator:</a:t>
            </a:r>
          </a:p>
          <a:p xmlns:a="http://schemas.openxmlformats.org/drawingml/2006/main">
            <a:pPr algn="l">
              <a:defRPr sz="1650" b="0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8FC"/>
                </a:solidFill>
                <a:latin typeface="Aptos"/>
                <a:ea typeface="Aptos"/>
                <a:cs typeface="Aptos"/>
              </a:rPr>
              <a:t>page.getByLabel('Day')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8FC"/>
                </a:solidFill>
                <a:latin typeface="Aptos"/>
                <a:ea typeface="Aptos"/>
                <a:cs typeface="Aptos"/>
              </a:rPr>
              <a:t>Reason:</a:t>
            </a:r>
          </a:p>
          <a:p xmlns:a="http://schemas.openxmlformats.org/drawingml/2006/main">
            <a:pPr algn="l">
              <a:defRPr sz="1650" b="0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8FC"/>
                </a:solidFill>
                <a:latin typeface="Aptos"/>
                <a:ea typeface="Aptos"/>
                <a:cs typeface="Aptos"/>
              </a:rPr>
              <a:t>semantic label is more stable than a brittle CSS id.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D38191-8538-43DE-ACAC-FF078A01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1020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3A1B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3A1BF"/>
                </a:solidFill>
                <a:latin typeface="Aptos"/>
                <a:ea typeface="Aptos"/>
                <a:cs typeface="Aptos"/>
              </a:rPr>
              <a:t>Result: less manual rework when UI elements are renamed.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963B5-3B0A-4023-83FF-3E4F0330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3A1B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1BF"/>
                </a:solidFill>
                <a:latin typeface="Aptos"/>
                <a:ea typeface="Aptos"/>
                <a:cs typeface="Aptos"/>
              </a:rPr>
              <a:t>DateTimeChecker | Topic 7 | AI-Assisted Testing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7EF3E2-4122-4401-BD2B-AF11BFC9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000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C33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2F767D-0920-40EA-B6C1-C36CE78A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381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620894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BC107B-AD95-4691-8415-D3503E1F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7F636-D1C5-4079-8E1E-49B0A0FF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8A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8A3D"/>
                </a:solidFill>
                <a:latin typeface="Aptos"/>
                <a:ea typeface="Aptos"/>
                <a:cs typeface="Aptos"/>
              </a:rPr>
              <a:t>TRADEOFFS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69FB3-908C-4F84-9E7C-0857F062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AF0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EAF0FF"/>
                </a:solidFill>
                <a:latin typeface="Aptos Display"/>
                <a:ea typeface="Aptos Display"/>
                <a:cs typeface="Aptos Display"/>
              </a:rPr>
              <a:t>AI-assisted testing improves speed and idea coverage, but reliability still depends on human review, model access, and security discipline.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7E546-3418-43C7-942E-EE5E83DA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3A1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3A1BF"/>
                </a:solidFill>
                <a:latin typeface="Aptos"/>
                <a:ea typeface="Aptos"/>
                <a:cs typeface="Aptos"/>
              </a:rPr>
              <a:t>This slide is important because it shows balanced technical judgment rather than hype.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AF9D8-2224-455B-BED3-3D014087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5143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27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14D5C-7E59-4E80-81F7-CD49FABD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5143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1922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90E34-F1EA-4CAA-9216-8DC71F25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7D7A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7D7AC"/>
                </a:solidFill>
                <a:latin typeface="Aptos"/>
                <a:ea typeface="Aptos"/>
                <a:cs typeface="Aptos"/>
              </a:rPr>
              <a:t>Benefits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FF357-1577-4457-B93A-CC5C0A4C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D7AC"/>
          </a:solidFill>
          <a:ln xmlns:a="http://schemas.openxmlformats.org/drawingml/2006/main" w="0">
            <a:solidFill>
              <a:srgbClr val="47D7A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75510-496E-4FCF-A605-4E38FDC8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Generate testcase ideas faster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9879C-AB56-4616-81ED-DF77E3B9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D7AC"/>
          </a:solidFill>
          <a:ln xmlns:a="http://schemas.openxmlformats.org/drawingml/2006/main" w="0">
            <a:solidFill>
              <a:srgbClr val="47D7A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44EB0-E452-49B9-897E-89296445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Explain risk patterns in simple language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A71437-E0B3-48F5-9DB0-2A6CB58B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D7AC"/>
          </a:solidFill>
          <a:ln xmlns:a="http://schemas.openxmlformats.org/drawingml/2006/main" w="0">
            <a:solidFill>
              <a:srgbClr val="47D7A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D03B25-0459-4B15-B140-C261193D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430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Support resilient locator recovery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D3C72E-1D24-4391-AED3-0C7B2C6D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D7AC"/>
          </a:solidFill>
          <a:ln xmlns:a="http://schemas.openxmlformats.org/drawingml/2006/main" w="0">
            <a:solidFill>
              <a:srgbClr val="47D7A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250538-BDF2-40E4-A637-B69FB8DA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243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Help teams demo modern testing practice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376E89-D77E-455D-B92F-27DCF0A6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479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5E6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5E6C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B02768-4C30-4F44-AAE7-39E216DB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00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E6C"/>
          </a:solidFill>
          <a:ln xmlns:a="http://schemas.openxmlformats.org/drawingml/2006/main" w="0">
            <a:solidFill>
              <a:srgbClr val="FF5E6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8BB6D6-2859-4F9E-BD33-D50320C3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2420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Model or API may be unavailable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3348E1-4F96-4D6B-A585-4DFBB60B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00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E6C"/>
          </a:solidFill>
          <a:ln xmlns:a="http://schemas.openxmlformats.org/drawingml/2006/main" w="0">
            <a:solidFill>
              <a:srgbClr val="FF5E6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FC180F-D6BE-4AEB-8377-1261331F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242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Output still needs human 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0D169A-BCFC-4F8A-AAC2-7FB19353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00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E6C"/>
          </a:solidFill>
          <a:ln xmlns:a="http://schemas.openxmlformats.org/drawingml/2006/main" w="0">
            <a:solidFill>
              <a:srgbClr val="FF5E6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02FC25-5FB7-4E2A-BA6E-AE6A0436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2430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Leaked keys create cost and security 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FC3D55-1026-4635-BBFC-2BEAC56B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00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E6C"/>
          </a:solidFill>
          <a:ln xmlns:a="http://schemas.openxmlformats.org/drawingml/2006/main" w="0">
            <a:solidFill>
              <a:srgbClr val="FF5E6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83721F-5825-4CFB-83F6-640D4830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2435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AI can suggest incorrect or vague 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92F470-0E1E-4FD6-8BD3-697C2D49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15050"/>
            <a:ext cx="990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3A1B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3A1BF"/>
                </a:solidFill>
                <a:latin typeface="Aptos"/>
                <a:ea typeface="Aptos"/>
                <a:cs typeface="Aptos"/>
              </a:rPr>
              <a:t>Best practice: keep AI in an assistive role, then validate with real automation and tester judgment.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9A8C47-DB4F-4A93-9C56-D11FC3E6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3A1B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1BF"/>
                </a:solidFill>
                <a:latin typeface="Aptos"/>
                <a:ea typeface="Aptos"/>
                <a:cs typeface="Aptos"/>
              </a:rPr>
              <a:t>DateTimeChecker | Topic 7 | AI-Assisted Testing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C63F84-97A3-40D0-804B-96A3ECD2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000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C33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88BCC7-AFC9-4C2B-8FFF-186BA1C3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381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60042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46A1DF-AF7C-4C91-936A-F5CC759C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3D"/>
          </a:solidFill>
          <a:ln xmlns:a="http://schemas.openxmlformats.org/drawingml/2006/main" w="0">
            <a:solidFill>
              <a:srgbClr val="FF8A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3D9F8-3971-4BE9-996F-EED70F31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8A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8A3D"/>
                </a:solidFill>
                <a:latin typeface="Aptos"/>
                <a:ea typeface="Aptos"/>
                <a:cs typeface="Aptos"/>
              </a:rPr>
              <a:t>CLOSING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614893-5C54-4A9A-9E72-0F954642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AF0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EAF0FF"/>
                </a:solidFill>
                <a:latin typeface="Aptos Display"/>
                <a:ea typeface="Aptos Display"/>
                <a:cs typeface="Aptos Display"/>
              </a:rPr>
              <a:t>Our team uses AI-Assisted Testing to improve preparation speed and demo resilience, while keeping final control with the tester.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CA3FA-FA0C-444B-9C4D-7C9B837C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3A1B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3A1BF"/>
                </a:solidFill>
                <a:latin typeface="Aptos"/>
                <a:ea typeface="Aptos"/>
                <a:cs typeface="Aptos"/>
              </a:rPr>
              <a:t>Final message: AI assists thinking and recovery; it does not replace software testing discipline.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6F28B-C7ED-42C4-8410-5E9CF6FC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524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C33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9BEE8-B276-43E4-85E3-7BA65B88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8A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8A3D"/>
                </a:solidFill>
                <a:latin typeface="Aptos"/>
                <a:ea typeface="Aptos"/>
                <a:cs typeface="Aptos"/>
              </a:rPr>
              <a:t>Takeaways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C53D50-A433-49FA-BB90-BE96432B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solidFill>
              <a:srgbClr val="4DA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BE12E4-EB18-4058-B41E-FE1DB77E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AI helps us design smarter tests faster.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CBEFF6-4150-4916-8FA9-69D06C11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solidFill>
              <a:srgbClr val="4DA3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E66B06-52AA-4500-9F3C-73BBDCFF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AI can support self-healing when locators drift.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E2F79-2EFA-440F-B5B1-B73902B0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solidFill>
              <a:srgbClr val="4DA3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1D4D46-9829-4D67-BC41-5B7FE302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Human review is still required for trust.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6D0F0-59B5-499B-BCBF-A1D3DC87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A3FF"/>
          </a:solidFill>
          <a:ln xmlns:a="http://schemas.openxmlformats.org/drawingml/2006/main" w="0">
            <a:solidFill>
              <a:srgbClr val="4DA3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D6FB28-87AD-4A9D-9251-32151FC2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AF0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AF0FF"/>
                </a:solidFill>
                <a:latin typeface="Aptos"/>
                <a:ea typeface="Aptos"/>
                <a:cs typeface="Aptos"/>
              </a:rPr>
              <a:t>Offline fallback keeps the demo stable in class.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658150-9A98-45AF-8CA6-4AFF8A2D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E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2FB164-BF73-4FE6-938D-22E4A704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670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7D7A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7D7AC"/>
                </a:solidFill>
                <a:latin typeface="Aptos"/>
                <a:ea typeface="Aptos"/>
                <a:cs typeface="Aptos"/>
              </a:rPr>
              <a:t>Useful demo commands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120E0D-5F4B-4D93-A5D7-19BC289C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81350"/>
            <a:ext cx="3905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8FC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F7F8FC"/>
                </a:solidFill>
                <a:latin typeface="Aptos Mono"/>
                <a:ea typeface="Aptos Mono"/>
                <a:cs typeface="Aptos Mono"/>
              </a:rPr>
              <a:t>ai-assistant-chat.bat</a:t>
            </a:r>
          </a:p>
          <a:p xmlns:a="http://schemas.openxmlformats.org/drawingml/2006/main">
            <a:pPr algn="l">
              <a:defRPr sz="1800" b="0">
                <a:solidFill>
                  <a:srgbClr val="F7F8FC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F7F8FC"/>
                </a:solidFill>
                <a:latin typeface="Aptos Mono"/>
                <a:ea typeface="Aptos Mono"/>
                <a:cs typeface="Aptos Mono"/>
              </a:rPr>
              <a:t>/demo-self-heal</a:t>
            </a:r>
          </a:p>
          <a:p xmlns:a="http://schemas.openxmlformats.org/drawingml/2006/main">
            <a:pPr algn="l">
              <a:defRPr sz="1800" b="0">
                <a:solidFill>
                  <a:srgbClr val="F7F8FC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F7F8FC"/>
                </a:solidFill>
                <a:latin typeface="Aptos Mono"/>
                <a:ea typeface="Aptos Mono"/>
                <a:cs typeface="Aptos Mono"/>
              </a:rPr>
              <a:t>ai-assistant-chat-offline-sample.bat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000171-A46E-4801-B5E9-19A19DBA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8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7F8FC"/>
                </a:solidFill>
                <a:latin typeface="Aptos Display"/>
                <a:ea typeface="Aptos Display"/>
                <a:cs typeface="Aptos Display"/>
              </a:rPr>
              <a:t>Q&amp;A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03A408-4385-4DCB-A8E7-C996ADD5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86450"/>
            <a:ext cx="885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3A1B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3A1BF"/>
                </a:solidFill>
                <a:latin typeface="Aptos"/>
                <a:ea typeface="Aptos"/>
                <a:cs typeface="Aptos"/>
              </a:rPr>
              <a:t>Thank you - our answer in one sentence: AI makes our testing workflow smarter, but not automatic by itself.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4F1064-67BD-4C30-A195-D6723FF9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3A1B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3A1BF"/>
                </a:solidFill>
                <a:latin typeface="Aptos"/>
                <a:ea typeface="Aptos"/>
                <a:cs typeface="Aptos"/>
              </a:rPr>
              <a:t>DateTimeChecker | Topic 7 | AI-Assisted Testing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1ED083-434E-4ACA-9616-CBEC4ED1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0005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C33"/>
          </a:solidFill>
          <a:ln xmlns:a="http://schemas.openxmlformats.org/drawingml/2006/main" w="9525">
            <a:solidFill>
              <a:srgbClr val="2432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1826A9-71BC-4F1E-85A7-B97FC3B6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381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8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8FC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185565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2026-06-13T02:21:58.6530000Z</dcterms:created>
  <dcterms:modified xsi:type="dcterms:W3CDTF">2026-06-13T02:21:58.6530000Z</dcterms:modified>
</coreProperties>
</file>